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0F254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645920"/>
            <a:ext cx="4846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8EBF"/>
                </a:solidFill>
                <a:latin typeface="Arial"/>
              </a:defRPr>
            </a:pPr>
            <a:r>
              <a:t>TRƯỜNG CAO ĐẲNG CÔNG THƯƠNG TPHCM – KHOA CNTT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XÂY DỰNG WEBSITE HỌC TIẾNG ANH</a:t>
            </a:r>
            <a:br/>
            <a:r>
              <a:t>TRỰC TUYẾN ENGLISH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846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8EBF"/>
                </a:solidFill>
                <a:latin typeface="Arial"/>
              </a:defRPr>
            </a:pPr>
            <a:r>
              <a:t>GVHD: Vũ Thị Hường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8EBF"/>
                </a:solidFill>
                <a:latin typeface="Arial"/>
              </a:defRPr>
            </a:pPr>
            <a:r>
              <a:t>SVTH: Phan Quang Thuật</a:t>
            </a:r>
            <a:br/>
            <a:r>
              <a:t>MSSV: 2120110351</a:t>
            </a:r>
            <a:br/>
            <a:r>
              <a:t>Lớp: CCQ2011E – Khóa K44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90A8"/>
                </a:solidFill>
                <a:latin typeface="Arial"/>
              </a:defRPr>
            </a:pPr>
            <a:r>
              <a:t>BÁO CÁO THỰC TẬP TỐT NGHIỆP • TPHCM, 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📋 NỘI DUNG TRÌNH BÀY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89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Giới thiệu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556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Arial"/>
              </a:defRPr>
            </a:pPr>
            <a:r>
              <a:t>Lý do chọn đề tài, mục tiêu, phạm vi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377440"/>
            <a:ext cx="640080" cy="64008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Cơ sở lý thuyết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61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Arial"/>
              </a:defRPr>
            </a:pPr>
            <a:r>
              <a:t>Công nghệ sử dụng: PHP, MySQL, MVC, API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383280"/>
            <a:ext cx="640080" cy="64008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01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Phân tích thiết kế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67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Arial"/>
              </a:defRPr>
            </a:pPr>
            <a:r>
              <a:t>UML: Use Case, Sequence, State Diagram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389120"/>
            <a:ext cx="640080" cy="64008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407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Demo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773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Arial"/>
              </a:defRPr>
            </a:pPr>
            <a:r>
              <a:t>Giao diện người dùng và quản trị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394960"/>
            <a:ext cx="640080" cy="64008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413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Kết luận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779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Arial"/>
              </a:defRPr>
            </a:pPr>
            <a:r>
              <a:t>Kết quả, hạn chế,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01 — 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Arial"/>
              </a:defRPr>
            </a:pPr>
            <a:r>
              <a:t>Lý do chọn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Nhu cầu học tiếng Anh online tại Việt Nam tăng mạnh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AI (GPT, Speech API) cho phép đánh giá Speaking tự động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Tích hợp đa kỹ năng: Nghe, Nói, Đọc, từ vựng, ngữ pháp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Hệ thống ví điện tử + membership chuyên nghiệp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Áp dụng toàn diện kiến thức: PHP MVC, MySQL, JS, API</a:t>
            </a:r>
          </a:p>
        </p:txBody>
      </p:sp>
      <p:pic>
        <p:nvPicPr>
          <p:cNvPr id="6" name="Picture 5" descr="02_homepag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6103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01 — MỤC TIÊU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Arial"/>
              </a:defRPr>
            </a:pPr>
            <a:r>
              <a:t>Mục tiêu cụ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Xây dựng hệ thống học từ vựng, ngữ pháp, bài kiểm tra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Tích hợp AI đánh giá kỹ năng nói (Speaking)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Phát triển tính năng Flashcard học từ vựng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Xây dựng bài kiểm tra: Quiz, Listening,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Phát triển hệ thống ví điện tử + membership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Dashboard thống kê tiến độ + Leaderboard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Hệ thống XP, Level, Streak (Gamification)</a:t>
            </a:r>
          </a:p>
          <a:p>
            <a:pPr>
              <a:spcAft>
                <a:spcPts val="96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Trang quản trị Admin đầy đủ CRUD + tài chính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2286000" cy="1188720"/>
          </a:xfrm>
          <a:prstGeom prst="roundRect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23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Bảng CSDL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029200"/>
            <a:ext cx="228600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30+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Trang giao diện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29200"/>
            <a:ext cx="228600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API tích hợp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5029200"/>
            <a:ext cx="2286000" cy="1188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Kỹ năng tiếng Anh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02 — CÔNG NGHỆ SỬ DỤNG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56BE8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42032"/>
            <a:ext cx="137160" cy="13716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PHP 8.2 (MVC thuần)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47872"/>
            <a:ext cx="137160" cy="13716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MySQL + PDO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553712"/>
            <a:ext cx="137160" cy="137160"/>
          </a:xfrm>
          <a:prstGeom prst="ellipse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Session + Cookie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6" name="Oval 15"/>
          <p:cNvSpPr/>
          <p:nvPr/>
        </p:nvSpPr>
        <p:spPr>
          <a:xfrm>
            <a:off x="3703320" y="254203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2468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HTML5 + CSS3</a:t>
            </a:r>
          </a:p>
        </p:txBody>
      </p:sp>
      <p:sp>
        <p:nvSpPr>
          <p:cNvPr id="18" name="Oval 17"/>
          <p:cNvSpPr/>
          <p:nvPr/>
        </p:nvSpPr>
        <p:spPr>
          <a:xfrm>
            <a:off x="3703320" y="354787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JavaScript (AJAX)</a:t>
            </a:r>
          </a:p>
        </p:txBody>
      </p:sp>
      <p:sp>
        <p:nvSpPr>
          <p:cNvPr id="20" name="Oval 19"/>
          <p:cNvSpPr/>
          <p:nvPr/>
        </p:nvSpPr>
        <p:spPr>
          <a:xfrm>
            <a:off x="3703320" y="455371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4480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Chart.js (biểu đồ)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rial"/>
              </a:defRPr>
            </a:pPr>
            <a:r>
              <a:t>API &amp; Tích hợp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54203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468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Google OAuth 2.0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54787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OpenAI GPT API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55371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480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Web Speech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46304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463040"/>
            <a:ext cx="26517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Arial"/>
              </a:defRPr>
            </a:pPr>
            <a:r>
              <a:t>Thanh toán</a:t>
            </a:r>
          </a:p>
        </p:txBody>
      </p:sp>
      <p:sp>
        <p:nvSpPr>
          <p:cNvPr id="34" name="Oval 33"/>
          <p:cNvSpPr/>
          <p:nvPr/>
        </p:nvSpPr>
        <p:spPr>
          <a:xfrm>
            <a:off x="9464040" y="2542032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468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VietQR (QR Code)</a:t>
            </a:r>
          </a:p>
        </p:txBody>
      </p:sp>
      <p:sp>
        <p:nvSpPr>
          <p:cNvPr id="36" name="Oval 35"/>
          <p:cNvSpPr/>
          <p:nvPr/>
        </p:nvSpPr>
        <p:spPr>
          <a:xfrm>
            <a:off x="9464040" y="3547872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Ví điện tử</a:t>
            </a:r>
          </a:p>
        </p:txBody>
      </p:sp>
      <p:sp>
        <p:nvSpPr>
          <p:cNvPr id="38" name="Oval 37"/>
          <p:cNvSpPr/>
          <p:nvPr/>
        </p:nvSpPr>
        <p:spPr>
          <a:xfrm>
            <a:off x="9464040" y="4553712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4480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rial"/>
              </a:defRPr>
            </a:pPr>
            <a:r>
              <a:t>Mã kích hoạt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02 — MÔ HÌNH MVC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56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00400" cy="731520"/>
          </a:xfrm>
          <a:prstGeom prst="rect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Xử lý logic nghiệp vụ</a:t>
            </a:r>
            <a:br/>
            <a:r>
              <a:t>Tương tác CSDL</a:t>
            </a:r>
            <a:br/>
            <a:br/>
            <a:r>
              <a:t>Ví dụ: User, Topic,</a:t>
            </a:r>
            <a:br/>
            <a:r>
              <a:t>Test, Vocabulary...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2004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Giao diện người dùng</a:t>
            </a:r>
            <a:br/>
            <a:r>
              <a:t>Hiển thị dữ liệu</a:t>
            </a:r>
            <a:br/>
            <a:br/>
            <a:r>
              <a:t>Ví dụ: home/index,</a:t>
            </a:r>
            <a:br/>
            <a:r>
              <a:t>lessons/show...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32004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Tiếp nhận request</a:t>
            </a:r>
            <a:br/>
            <a:r>
              <a:t>Điều hướng logic</a:t>
            </a:r>
            <a:br/>
            <a:br/>
            <a:r>
              <a:t>Ví dụ: AuthController,</a:t>
            </a:r>
            <a:br/>
            <a:r>
              <a:t>WalletController...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Arial"/>
              </a:defRPr>
            </a:pPr>
            <a:r>
              <a:t>📁 Cấu trúc: app/controllers/ → app/models/ → app/views/ → public/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03 — SƠ ĐỒ USE CASE</a:t>
            </a:r>
          </a:p>
        </p:txBody>
      </p:sp>
      <p:pic>
        <p:nvPicPr>
          <p:cNvPr id="4" name="Picture 3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272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Arial"/>
              </a:defRPr>
            </a:pPr>
            <a:r>
              <a:t>Actors: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56BE8"/>
                </a:solidFill>
                <a:latin typeface="Arial"/>
              </a:defRPr>
            </a:pPr>
            <a:r>
              <a:t>👤 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Arial"/>
              </a:defRPr>
            </a:pPr>
            <a:r>
              <a:t>Xem chủ đề, đăng ký, đăng nhập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56BE8"/>
                </a:solidFill>
                <a:latin typeface="Arial"/>
              </a:defRPr>
            </a:pPr>
            <a:r>
              <a:t>👨‍🎓 User (Free)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Arial"/>
              </a:defRPr>
            </a:pPr>
            <a:r>
              <a:t>Học từ, quiz, flashcard, ví, bookmark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56BE8"/>
                </a:solidFill>
                <a:latin typeface="Arial"/>
              </a:defRPr>
            </a:pPr>
            <a:r>
              <a:t>⭐ Pro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Arial"/>
              </a:defRPr>
            </a:pPr>
            <a:r>
              <a:t>+ Listening, Reading, Speaking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56BE8"/>
                </a:solidFill>
                <a:latin typeface="Arial"/>
              </a:defRPr>
            </a:pPr>
            <a:r>
              <a:t>🔧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Arial"/>
              </a:defRPr>
            </a:pPr>
            <a:r>
              <a:t>+ Quản lý hệ thống, duyệt đơn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03 — SƠ ĐỒ SEQUENCE: LUỒNG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▸ Đăng nhập</a:t>
            </a:r>
          </a:p>
        </p:txBody>
      </p:sp>
      <p:pic>
        <p:nvPicPr>
          <p:cNvPr id="5" name="Picture 4" descr="sequenc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5486400" cy="2794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▸ Nạp tiền vào ví</a:t>
            </a:r>
          </a:p>
        </p:txBody>
      </p:sp>
      <p:pic>
        <p:nvPicPr>
          <p:cNvPr id="7" name="Picture 6" descr="sequence_depo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86400" cy="3040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▸ Mua gói Pro</a:t>
            </a:r>
          </a:p>
        </p:txBody>
      </p:sp>
      <p:pic>
        <p:nvPicPr>
          <p:cNvPr id="9" name="Picture 8" descr="sequence_purc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51960"/>
            <a:ext cx="5486400" cy="44099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▸ Hủy đơn + Hoàn tiền</a:t>
            </a:r>
          </a:p>
        </p:txBody>
      </p:sp>
      <p:pic>
        <p:nvPicPr>
          <p:cNvPr id="11" name="Picture 10" descr="sequence_can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51960"/>
            <a:ext cx="5486400" cy="3200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03 — THIẾT KẾ CƠ SỞ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Arial"/>
              </a:defRPr>
            </a:pPr>
            <a:r>
              <a:t>MySQL — 23 bảng — Charset utf8mb4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502920"/>
          </a:xfrm>
          <a:prstGeom prst="roundRect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Học tập 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/>
              </a:defRPr>
            </a:pPr>
            <a:r>
              <a:t>• topics</a:t>
            </a:r>
            <a:br/>
            <a:r>
              <a:t>• vocabularies</a:t>
            </a:r>
            <a:br/>
            <a:r>
              <a:t>• lessons</a:t>
            </a:r>
            <a:br/>
            <a:r>
              <a:t>• lesson_contents</a:t>
            </a:r>
            <a:br/>
            <a:r>
              <a:t>• tests</a:t>
            </a:r>
            <a:br/>
            <a:r>
              <a:t>• questions</a:t>
            </a:r>
            <a:br/>
            <a:r>
              <a:t>• grammar_lessons</a:t>
            </a:r>
            <a:br/>
            <a:r>
              <a:t>• grammar_questions</a:t>
            </a:r>
            <a:br/>
            <a:r>
              <a:t>• speaking_prompts</a:t>
            </a:r>
            <a:br/>
            <a:r>
              <a:t>• speaking_attempts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6517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Người dùng (7)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/>
              </a:defRPr>
            </a:pPr>
            <a:r>
              <a:t>• users</a:t>
            </a:r>
            <a:br/>
            <a:r>
              <a:t>• user_progress</a:t>
            </a:r>
            <a:br/>
            <a:r>
              <a:t>• bookmarks</a:t>
            </a:r>
            <a:br/>
            <a:r>
              <a:t>• lesson_reviews</a:t>
            </a:r>
            <a:br/>
            <a:r>
              <a:t>• test_results</a:t>
            </a:r>
            <a:br/>
            <a:r>
              <a:t>• user_answers</a:t>
            </a:r>
            <a:br/>
            <a:r>
              <a:t>• xp_history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6517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Tài chính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/>
              </a:defRPr>
            </a:pPr>
            <a:r>
              <a:t>• membership_plans</a:t>
            </a:r>
            <a:br/>
            <a:r>
              <a:t>• membership_orders</a:t>
            </a:r>
            <a:br/>
            <a:r>
              <a:t>• wallet_transactions</a:t>
            </a:r>
            <a:br/>
            <a:r>
              <a:t>• activation_codes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65176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Hỗ trợ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/>
              </a:defRPr>
            </a:pPr>
            <a:r>
              <a:t>• support_tickets</a:t>
            </a:r>
            <a:br/>
            <a:r>
              <a:t>• vocab_reviews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TRANG CHỦ &amp; ĐĂNG NHẬP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Trang chủ</a:t>
            </a:r>
          </a:p>
        </p:txBody>
      </p:sp>
      <p:pic>
        <p:nvPicPr>
          <p:cNvPr id="5" name="Picture 4" descr="02_homepag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Đăng nhập</a:t>
            </a:r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HỌC TỪ VỰNG &amp; FLASHCARD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Chi tiết chủ đề + từ vựng</a:t>
            </a:r>
          </a:p>
        </p:txBody>
      </p:sp>
      <p:pic>
        <p:nvPicPr>
          <p:cNvPr id="5" name="Picture 4" descr="05_topic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Flashcard</a:t>
            </a:r>
          </a:p>
        </p:txBody>
      </p:sp>
      <p:pic>
        <p:nvPicPr>
          <p:cNvPr id="7" name="Picture 6" descr="07_flash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BÀI KIỂM TRA &amp; NGỮ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Bài kiểm tra</a:t>
            </a:r>
          </a:p>
        </p:txBody>
      </p:sp>
      <p:pic>
        <p:nvPicPr>
          <p:cNvPr id="5" name="Picture 4" descr="09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Ngữ pháp</a:t>
            </a:r>
          </a:p>
        </p:txBody>
      </p:sp>
      <p:pic>
        <p:nvPicPr>
          <p:cNvPr id="7" name="Picture 6" descr="08_gramm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LUYỆN NÓI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Luyện nói (AI)</a:t>
            </a:r>
          </a:p>
        </p:txBody>
      </p:sp>
      <p:pic>
        <p:nvPicPr>
          <p:cNvPr id="5" name="Picture 4" descr="10_spe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Dashboard tiến độ</a:t>
            </a:r>
          </a:p>
        </p:txBody>
      </p:sp>
      <p:pic>
        <p:nvPicPr>
          <p:cNvPr id="7" name="Picture 6" descr="1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VÍ ĐIỆN TỬ &amp; NẠP TIỀN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Ví điện tử</a:t>
            </a:r>
          </a:p>
        </p:txBody>
      </p:sp>
      <p:pic>
        <p:nvPicPr>
          <p:cNvPr id="5" name="Picture 4" descr="15_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Nạp tiền QR</a:t>
            </a:r>
          </a:p>
        </p:txBody>
      </p:sp>
      <p:pic>
        <p:nvPicPr>
          <p:cNvPr id="7" name="Picture 6" descr="16_depo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NÂNG CẤP PRO &amp; HỖ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Bảng giá Pro</a:t>
            </a:r>
          </a:p>
        </p:txBody>
      </p:sp>
      <p:pic>
        <p:nvPicPr>
          <p:cNvPr id="5" name="Picture 4" descr="18_membership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Tickets hỗ trợ</a:t>
            </a:r>
          </a:p>
        </p:txBody>
      </p:sp>
      <p:pic>
        <p:nvPicPr>
          <p:cNvPr id="7" name="Picture 6" descr="20_suppor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04 — QUẢN TRỊ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Admin Dashboard</a:t>
            </a:r>
          </a:p>
        </p:txBody>
      </p:sp>
      <p:pic>
        <p:nvPicPr>
          <p:cNvPr id="5" name="Picture 4" descr="2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270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Quản lý ví</a:t>
            </a:r>
          </a:p>
        </p:txBody>
      </p:sp>
      <p:pic>
        <p:nvPicPr>
          <p:cNvPr id="7" name="Picture 6" descr="29_admin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03 — SƠ ĐỒ TRẠNG THÁI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▸ Đơn hàng</a:t>
            </a:r>
          </a:p>
        </p:txBody>
      </p:sp>
      <p:pic>
        <p:nvPicPr>
          <p:cNvPr id="5" name="Picture 4" descr="state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3383280" cy="2470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▸ Giao dịch ví</a:t>
            </a:r>
          </a:p>
        </p:txBody>
      </p:sp>
      <p:pic>
        <p:nvPicPr>
          <p:cNvPr id="7" name="Picture 6" descr="state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37360"/>
            <a:ext cx="3383280" cy="2921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Arial"/>
              </a:defRPr>
            </a:pPr>
            <a:r>
              <a:t>▸ Ticket hỗ trợ</a:t>
            </a:r>
          </a:p>
        </p:txBody>
      </p:sp>
      <p:pic>
        <p:nvPicPr>
          <p:cNvPr id="9" name="Picture 8" descr="state_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37360"/>
            <a:ext cx="3383280" cy="68161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05 — KẾT QUẢ KIỂM THỬ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1188720"/>
          </a:xfrm>
          <a:prstGeom prst="roundRect">
            <a:avLst/>
          </a:prstGeom>
          <a:solidFill>
            <a:srgbClr val="45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30+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Trang đã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28600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Lỗi PHP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28600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100%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Encoding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28600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✓</a:t>
            </a:r>
          </a:p>
          <a:p>
            <a:pPr algn="ctr"/>
            <a:r>
              <a:rPr sz="1300">
                <a:solidFill>
                  <a:srgbClr val="E0E8F0"/>
                </a:solidFill>
                <a:latin typeface="Arial"/>
              </a:rPr>
              <a:t>Wallet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Arial"/>
              </a:defRPr>
            </a:pPr>
            <a:r>
              <a:t>Các luồng đã kiểm thử: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Đăng ký, đăng nhập, Google OAuth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Học từ vựng, flashcard, bookmark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Làm bài quiz, listening, reading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Luyện nói + AI chấm điểm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Nạp tiền → Admin duyệt → Mua gói Pro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Hủy đơn → Admin duyệt → Hoàn tiền vào ví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Rút tiền → Admin chuyển khoản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Dashboard thống kê tiến độ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Bảng xếp hạng XP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Admin: CRUD chủ đề, câu hỏi, user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Admin: Duyệt đơn, quản lý ví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Admin: Phản hồi tickets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Vietnamese encoding (UTF-8)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• Responsive design (PC + Mobile)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05 —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Arial"/>
              </a:defRPr>
            </a:pPr>
            <a:r>
              <a:t>✅ Ưu điểm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Hoàn thành đầy đủ chức năng đề ra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Tích hợp AI đánh giá Speaking – điểm nổi bật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Hệ thống ví + membership chuyên nghiệp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Giao diện đẹp, hiện đại, responsive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Gamification: XP, Level, Streak, Leaderboard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Bảo mật tài chính: transaction + row 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Arial"/>
              </a:defRPr>
            </a:pPr>
            <a:r>
              <a:t>⚠️ Hạn chế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Nạp tiền chưa tự động (cần Admin duyệt)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Chưa có app mobile native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Nội dung còn hạn chế (6 chủ đề)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Speaking chỉ trên Chrome/Edge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56BE8"/>
                </a:solidFill>
                <a:latin typeface="Arial"/>
              </a:defRPr>
            </a:pPr>
            <a:r>
              <a:t>🚀 Hướng phát triển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Tích hợp VNPay, Momo thanh toán tự động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Phát triển app mobile (React Native/Flutter)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Bổ sung nhiều chủ đề, video bài giảng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Tích hợp Spaced Repetition (SRS)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Thêm forum, chat, học nhóm</a:t>
            </a:r>
          </a:p>
          <a:p>
            <a:pPr>
              <a:spcAft>
                <a:spcPts val="84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• Deploy lên hosting thật (Cloud/VPS)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0F254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CẢM ƠN QUÝ THẦY CÔ</a:t>
            </a:r>
            <a:br/>
            <a:r>
              <a:t>ĐÃ LẮNG NGHE!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8EBF"/>
                </a:solidFill>
                <a:latin typeface="Arial"/>
              </a:defRPr>
            </a:pPr>
            <a:r>
              <a:t>SVTH: Phan Quang Thuật • MSSV: 2120110351 • GVHD: Vũ Thị Hường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90A8"/>
                </a:solidFill>
                <a:latin typeface="Arial"/>
              </a:defRPr>
            </a:pPr>
            <a:r>
              <a:t>GitHub: github.com/sylarbear/DATN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